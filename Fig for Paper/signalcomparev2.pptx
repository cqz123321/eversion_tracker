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24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1C5C0B-50B3-57A0-8B82-8D20906794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8EC6237-2586-57B6-B4DA-F13B553E85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2A077E-AD62-3192-28D9-D3236247A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A74C5-4730-4133-9DB9-98559DDBD6E5}" type="datetimeFigureOut">
              <a:rPr lang="zh-CN" altLang="en-US" smtClean="0"/>
              <a:t>2026/10/30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36FF71-84FE-6B55-36F6-E2B955A1F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71B735-6DEC-2CAE-F0E0-CFF74F52B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64421-6741-4A5E-8856-07F3482EDC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9629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CD281D-30A2-0BDD-F79B-985847C77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4B71E4-0B5A-F937-5C5D-9CB4C1727A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35E4C6-7899-5A46-026F-422A898DF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A74C5-4730-4133-9DB9-98559DDBD6E5}" type="datetimeFigureOut">
              <a:rPr lang="zh-CN" altLang="en-US" smtClean="0"/>
              <a:t>2026/10/30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4A78E9-0914-5AD2-B987-D1C996507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DAB23B-2841-0037-12B7-B26D488A6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64421-6741-4A5E-8856-07F3482EDC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314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4BF349-789B-FCA0-AB86-93C811595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DA57230-F0F5-2A0F-D9E0-31A6C7F68C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FAC56C-6EFC-7F0E-A242-2C24CE04D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A74C5-4730-4133-9DB9-98559DDBD6E5}" type="datetimeFigureOut">
              <a:rPr lang="zh-CN" altLang="en-US" smtClean="0"/>
              <a:t>2026/10/30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4BE373-2066-FA4E-DCE9-D533FE367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4FCE6D-A63D-798D-6246-242A682AF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64421-6741-4A5E-8856-07F3482EDC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6311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B7565E-A150-9656-A932-577D9249B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2F0682-96FA-B160-08E8-53181C5B78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DD37DF4-D515-A159-A677-40D15E4885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FF377B4-6E77-A97B-692C-AA0E5322D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A74C5-4730-4133-9DB9-98559DDBD6E5}" type="datetimeFigureOut">
              <a:rPr lang="zh-CN" altLang="en-US" smtClean="0"/>
              <a:t>2026/10/30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F6C16D3-BC6E-600F-1D90-1357AF5D5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2B867F1-1AFF-3DD6-77BA-C442F37D7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64421-6741-4A5E-8856-07F3482EDC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0836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BDE42B-A7D7-49E9-A14E-3D5080DC7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44D130-4776-DF3D-F378-6AA0BF35EA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7CBFDDE-52A7-FB23-09AF-0AE5598C61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573D7A3-D52C-06BC-0DC6-CBAFABEABB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307D385-9231-380E-50CC-500967D390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3C86E52-BD2D-FE8A-4240-624EA5FB8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A74C5-4730-4133-9DB9-98559DDBD6E5}" type="datetimeFigureOut">
              <a:rPr lang="zh-CN" altLang="en-US" smtClean="0"/>
              <a:t>2026/10/30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A4A32B9-4A7B-69E8-7270-B81DF966F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F7D705B-5A02-1846-6FF3-4B9F600A7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64421-6741-4A5E-8856-07F3482EDC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738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408B5C-23C6-006A-DAC4-B938D6686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9DF8A70-7E65-8EFC-B599-DD43F9CBF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A74C5-4730-4133-9DB9-98559DDBD6E5}" type="datetimeFigureOut">
              <a:rPr lang="zh-CN" altLang="en-US" smtClean="0"/>
              <a:t>2026/10/30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B81E710-3339-98DC-C578-8A67872E3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30B9B65-9EE4-1B11-D2E7-F2EE173E4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64421-6741-4A5E-8856-07F3482EDC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8584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12CE326-ED34-34DE-A596-FF8A858D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A74C5-4730-4133-9DB9-98559DDBD6E5}" type="datetimeFigureOut">
              <a:rPr lang="zh-CN" altLang="en-US" smtClean="0"/>
              <a:t>2026/10/30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C801895-2021-FEA3-E4AF-7AA029F56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F1470A-CFF8-6C17-6C6A-86BF7940D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64421-6741-4A5E-8856-07F3482EDC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2256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7E6483-5BEB-C6E8-DF88-87357DBDE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E1B5B3-50A8-433A-8200-E6D9F7944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834D4B5-F961-3FB0-EA9B-D9FFC7A903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88647ED-8C79-F252-D9EB-F206ED3E2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A74C5-4730-4133-9DB9-98559DDBD6E5}" type="datetimeFigureOut">
              <a:rPr lang="zh-CN" altLang="en-US" smtClean="0"/>
              <a:t>2026/10/30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784BFDD-BBAA-47AA-718A-BA9734929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5A2B121-9661-E179-0B87-A4E5C63BD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64421-6741-4A5E-8856-07F3482EDC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905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2103DE-04EA-6CF3-E017-9003A5B5A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CAEB0A9-B94B-F7CF-DF47-7C543BBE7A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0F3280C-9F49-09CC-408F-4F909DF26D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40A9B04-AF7E-0924-D849-5099B7AF2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A74C5-4730-4133-9DB9-98559DDBD6E5}" type="datetimeFigureOut">
              <a:rPr lang="zh-CN" altLang="en-US" smtClean="0"/>
              <a:t>2026/10/30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CD3CCE3-ADE7-A3B4-5129-821E63ED2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713981D-56DE-9DFD-E289-3A1AF7B55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64421-6741-4A5E-8856-07F3482EDC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825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7FD626-191E-9F0D-9C83-B9ACC3C72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A02DD39-46C7-842F-EFCB-04E97FF3C5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8F7A6D-66A7-FA41-3242-531C1FB01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A74C5-4730-4133-9DB9-98559DDBD6E5}" type="datetimeFigureOut">
              <a:rPr lang="zh-CN" altLang="en-US" smtClean="0"/>
              <a:t>2026/10/30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51D5B4-1FEA-C0FC-D495-FA055BEFB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4F9A82-8ABA-0DB3-4E51-F177296D0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64421-6741-4A5E-8856-07F3482EDC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0884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8ED40C1-CA0A-FA67-E03E-4F4E193498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9B676DE-8D1B-CA95-F938-87C5A921DF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F2470F-7942-5313-C216-235B7F1F1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A74C5-4730-4133-9DB9-98559DDBD6E5}" type="datetimeFigureOut">
              <a:rPr lang="zh-CN" altLang="en-US" smtClean="0"/>
              <a:t>2026/10/30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A671DE-5F09-B354-996F-A330F4972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35D567-1CE5-355C-BC2E-A1C147840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64421-6741-4A5E-8856-07F3482EDC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609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54A89B8-C1AC-5418-CA6C-5D1E92B18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90ED66D-2BA3-3720-67C8-55197C68A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8A9630-C084-3E3E-0F0F-9A756A26A1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4A74C5-4730-4133-9DB9-98559DDBD6E5}" type="datetimeFigureOut">
              <a:rPr lang="zh-CN" altLang="en-US" smtClean="0"/>
              <a:t>2026/10/30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B8B294-0885-CAA1-C0CE-23D2F58C15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9AB2FA-73B5-D8D9-65DD-95B86C0D46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F64421-6741-4A5E-8856-07F3482EDC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1853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DD805A6F-FAEE-8768-EFB6-D4165BF74F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131" t="8512" r="7185" b="12220"/>
          <a:stretch/>
        </p:blipFill>
        <p:spPr>
          <a:xfrm>
            <a:off x="10807381" y="243534"/>
            <a:ext cx="381383" cy="5858593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A4053EEE-F51B-F10A-50F6-C63ED92440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8" t="11268" r="10902" b="11055"/>
          <a:stretch/>
        </p:blipFill>
        <p:spPr>
          <a:xfrm>
            <a:off x="643466" y="3225801"/>
            <a:ext cx="10219267" cy="3090333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6987F7A6-3D7D-8191-0914-F160F68302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7" t="10630" r="11181" b="16801"/>
          <a:stretch/>
        </p:blipFill>
        <p:spPr>
          <a:xfrm>
            <a:off x="541865" y="338668"/>
            <a:ext cx="10320868" cy="2887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94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26DDF1C2-460A-646F-3496-D1720A056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102" y="900854"/>
            <a:ext cx="4007056" cy="4305521"/>
          </a:xfrm>
          <a:prstGeom prst="rect">
            <a:avLst/>
          </a:prstGeom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55D8ABD5-EEE1-1A19-944F-6639766539CC}"/>
              </a:ext>
            </a:extLst>
          </p:cNvPr>
          <p:cNvGrpSpPr/>
          <p:nvPr/>
        </p:nvGrpSpPr>
        <p:grpSpPr>
          <a:xfrm>
            <a:off x="5545078" y="900854"/>
            <a:ext cx="4244741" cy="4307862"/>
            <a:chOff x="5545078" y="900854"/>
            <a:chExt cx="4244741" cy="4307862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C560EA57-56F3-12F5-E1D2-DBC0861597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3912"/>
            <a:stretch/>
          </p:blipFill>
          <p:spPr>
            <a:xfrm>
              <a:off x="5545078" y="900854"/>
              <a:ext cx="4244741" cy="4307862"/>
            </a:xfrm>
            <a:prstGeom prst="rect">
              <a:avLst/>
            </a:prstGeom>
          </p:spPr>
        </p:pic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6AFBEB10-71C5-B8A7-2841-EB0BCF57F1A8}"/>
                </a:ext>
              </a:extLst>
            </p:cNvPr>
            <p:cNvSpPr txBox="1"/>
            <p:nvPr/>
          </p:nvSpPr>
          <p:spPr>
            <a:xfrm>
              <a:off x="7204495" y="1132756"/>
              <a:ext cx="9448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</a:rPr>
                <a:t>Rectum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89F02FC2-D0F2-8678-B221-6588E9FA73CB}"/>
                </a:ext>
              </a:extLst>
            </p:cNvPr>
            <p:cNvSpPr txBox="1"/>
            <p:nvPr/>
          </p:nvSpPr>
          <p:spPr>
            <a:xfrm>
              <a:off x="7431860" y="4516688"/>
              <a:ext cx="19447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</a:rPr>
                <a:t>Eversion robot tip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7C8B161F-F2FB-EACB-9EA8-EA2EB682E12C}"/>
                </a:ext>
              </a:extLst>
            </p:cNvPr>
            <p:cNvCxnSpPr>
              <a:cxnSpLocks/>
            </p:cNvCxnSpPr>
            <p:nvPr/>
          </p:nvCxnSpPr>
          <p:spPr>
            <a:xfrm>
              <a:off x="7886700" y="1502088"/>
              <a:ext cx="300531" cy="79062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E6C4D30D-0FDE-899D-84AA-18504EA0C4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33467" y="4264226"/>
              <a:ext cx="562022" cy="437128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0672021B-76F6-4419-63EF-49753A5BEB44}"/>
                </a:ext>
              </a:extLst>
            </p:cNvPr>
            <p:cNvSpPr/>
            <p:nvPr/>
          </p:nvSpPr>
          <p:spPr>
            <a:xfrm>
              <a:off x="8020051" y="2032551"/>
              <a:ext cx="768383" cy="68103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A2F504BD-931C-C76A-D777-511CB3FDE78E}"/>
                </a:ext>
              </a:extLst>
            </p:cNvPr>
            <p:cNvSpPr txBox="1"/>
            <p:nvPr/>
          </p:nvSpPr>
          <p:spPr>
            <a:xfrm>
              <a:off x="6749405" y="2611791"/>
              <a:ext cx="18549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</a:rPr>
                <a:t>Phantom motion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62EF2E35-B1BB-9C3C-3D46-0BB212BEC383}"/>
                </a:ext>
              </a:extLst>
            </p:cNvPr>
            <p:cNvSpPr/>
            <p:nvPr/>
          </p:nvSpPr>
          <p:spPr>
            <a:xfrm>
              <a:off x="6861112" y="3005137"/>
              <a:ext cx="315106" cy="311101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59549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A7678FC-C1EB-5E9A-04CA-C531C5FF3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150" y="92912"/>
            <a:ext cx="5517850" cy="287710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88E080A4-0855-E767-6993-E1D1795F2C2C}"/>
              </a:ext>
            </a:extLst>
          </p:cNvPr>
          <p:cNvSpPr txBox="1"/>
          <p:nvPr/>
        </p:nvSpPr>
        <p:spPr>
          <a:xfrm>
            <a:off x="-19318" y="51885"/>
            <a:ext cx="8210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（</a:t>
            </a:r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）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B64D0A5-1B66-F487-CF1E-F8246F3FB1C8}"/>
              </a:ext>
            </a:extLst>
          </p:cNvPr>
          <p:cNvSpPr txBox="1"/>
          <p:nvPr/>
        </p:nvSpPr>
        <p:spPr>
          <a:xfrm rot="16200000">
            <a:off x="-971474" y="4581456"/>
            <a:ext cx="23920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Path Progression (%)</a:t>
            </a:r>
            <a:endParaRPr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7AFF583-3588-C58B-478B-72B24F77915D}"/>
              </a:ext>
            </a:extLst>
          </p:cNvPr>
          <p:cNvSpPr txBox="1"/>
          <p:nvPr/>
        </p:nvSpPr>
        <p:spPr>
          <a:xfrm>
            <a:off x="1668990" y="6252774"/>
            <a:ext cx="33361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Normalized Elapsed Time (%)</a:t>
            </a:r>
            <a:endParaRPr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A7103A3E-E440-A6C3-FDD0-0F1359C611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212" y="2970018"/>
            <a:ext cx="5891727" cy="348281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FBAA6C82-7559-3E89-164D-D8C9FCDB27F4}"/>
              </a:ext>
            </a:extLst>
          </p:cNvPr>
          <p:cNvSpPr txBox="1"/>
          <p:nvPr/>
        </p:nvSpPr>
        <p:spPr>
          <a:xfrm>
            <a:off x="-208298" y="2965453"/>
            <a:ext cx="8322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（</a:t>
            </a:r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）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BE7F084-C383-7304-84AF-D7DB7CC0FC1D}"/>
              </a:ext>
            </a:extLst>
          </p:cNvPr>
          <p:cNvSpPr txBox="1"/>
          <p:nvPr/>
        </p:nvSpPr>
        <p:spPr>
          <a:xfrm>
            <a:off x="2007656" y="237123"/>
            <a:ext cx="644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highlight>
                  <a:srgbClr val="FFFF00"/>
                </a:highlight>
              </a:rPr>
              <a:t>Start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0C5CA7E-9E7E-2BF5-4337-4921D303E21C}"/>
              </a:ext>
            </a:extLst>
          </p:cNvPr>
          <p:cNvSpPr txBox="1"/>
          <p:nvPr/>
        </p:nvSpPr>
        <p:spPr>
          <a:xfrm>
            <a:off x="2774100" y="553078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highlight>
                  <a:srgbClr val="FFFF00"/>
                </a:highlight>
              </a:rPr>
              <a:t>End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363A37C-4ECC-6305-4BBA-E526C6F67DFA}"/>
              </a:ext>
            </a:extLst>
          </p:cNvPr>
          <p:cNvSpPr/>
          <p:nvPr/>
        </p:nvSpPr>
        <p:spPr>
          <a:xfrm>
            <a:off x="512233" y="3136900"/>
            <a:ext cx="65917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7307828-5FD0-A7C9-F283-44CA7C040318}"/>
              </a:ext>
            </a:extLst>
          </p:cNvPr>
          <p:cNvSpPr/>
          <p:nvPr/>
        </p:nvSpPr>
        <p:spPr>
          <a:xfrm>
            <a:off x="479274" y="4593166"/>
            <a:ext cx="98876" cy="2328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84603D7-8912-D65D-B5DE-51C9BBBC7F2A}"/>
              </a:ext>
            </a:extLst>
          </p:cNvPr>
          <p:cNvSpPr/>
          <p:nvPr/>
        </p:nvSpPr>
        <p:spPr>
          <a:xfrm>
            <a:off x="504437" y="6081384"/>
            <a:ext cx="65917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2DD80D0-8F13-C84F-484B-F3A86F848C15}"/>
              </a:ext>
            </a:extLst>
          </p:cNvPr>
          <p:cNvSpPr txBox="1"/>
          <p:nvPr/>
        </p:nvSpPr>
        <p:spPr>
          <a:xfrm>
            <a:off x="424582" y="3084109"/>
            <a:ext cx="2439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endParaRPr lang="zh-CN" alt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9E56B84-397F-BFF7-F2B5-67EE8FB7B05F}"/>
              </a:ext>
            </a:extLst>
          </p:cNvPr>
          <p:cNvSpPr txBox="1"/>
          <p:nvPr/>
        </p:nvSpPr>
        <p:spPr>
          <a:xfrm>
            <a:off x="424582" y="4465202"/>
            <a:ext cx="2471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endParaRPr lang="zh-CN" alt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6C2877F-CC9D-2B74-B075-B4B730A3E303}"/>
              </a:ext>
            </a:extLst>
          </p:cNvPr>
          <p:cNvSpPr txBox="1"/>
          <p:nvPr/>
        </p:nvSpPr>
        <p:spPr>
          <a:xfrm>
            <a:off x="424582" y="4621084"/>
            <a:ext cx="2439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endParaRPr lang="zh-CN" alt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34381D7-E0A5-1B65-CF01-1267996AA35E}"/>
              </a:ext>
            </a:extLst>
          </p:cNvPr>
          <p:cNvSpPr txBox="1"/>
          <p:nvPr/>
        </p:nvSpPr>
        <p:spPr>
          <a:xfrm>
            <a:off x="413002" y="6034473"/>
            <a:ext cx="2487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endParaRPr lang="zh-CN" alt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6975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组合 40">
            <a:extLst>
              <a:ext uri="{FF2B5EF4-FFF2-40B4-BE49-F238E27FC236}">
                <a16:creationId xmlns:a16="http://schemas.microsoft.com/office/drawing/2014/main" id="{785FB871-07C9-AA9C-8C92-1C45961C9B58}"/>
              </a:ext>
            </a:extLst>
          </p:cNvPr>
          <p:cNvGrpSpPr/>
          <p:nvPr/>
        </p:nvGrpSpPr>
        <p:grpSpPr>
          <a:xfrm>
            <a:off x="-76341" y="0"/>
            <a:ext cx="2751698" cy="3403728"/>
            <a:chOff x="504457" y="102658"/>
            <a:chExt cx="2751698" cy="3403728"/>
          </a:xfrm>
        </p:grpSpPr>
        <p:pic>
          <p:nvPicPr>
            <p:cNvPr id="33" name="图片 32">
              <a:extLst>
                <a:ext uri="{FF2B5EF4-FFF2-40B4-BE49-F238E27FC236}">
                  <a16:creationId xmlns:a16="http://schemas.microsoft.com/office/drawing/2014/main" id="{B714BED1-3A45-04BC-173A-EEE190DA3A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0358" r="16397"/>
            <a:stretch/>
          </p:blipFill>
          <p:spPr>
            <a:xfrm>
              <a:off x="580798" y="102658"/>
              <a:ext cx="2078555" cy="3403728"/>
            </a:xfrm>
            <a:prstGeom prst="rect">
              <a:avLst/>
            </a:prstGeom>
          </p:spPr>
        </p:pic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53E8F106-C083-0EDC-5EF9-B65197DDBA03}"/>
                </a:ext>
              </a:extLst>
            </p:cNvPr>
            <p:cNvSpPr txBox="1"/>
            <p:nvPr/>
          </p:nvSpPr>
          <p:spPr>
            <a:xfrm>
              <a:off x="504457" y="378113"/>
              <a:ext cx="126600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00B0F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Rectum </a:t>
              </a:r>
            </a:p>
            <a:p>
              <a:r>
                <a:rPr lang="en-US" altLang="zh-CN" dirty="0">
                  <a:solidFill>
                    <a:srgbClr val="00B0F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(start point)</a:t>
              </a:r>
              <a:endParaRPr lang="zh-CN" altLang="en-US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D2E0A3F6-5641-E1DC-AF72-4A123F93C830}"/>
                </a:ext>
              </a:extLst>
            </p:cNvPr>
            <p:cNvSpPr txBox="1"/>
            <p:nvPr/>
          </p:nvSpPr>
          <p:spPr>
            <a:xfrm>
              <a:off x="784026" y="3014130"/>
              <a:ext cx="2472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Vine robot tip</a:t>
              </a:r>
              <a:endParaRPr lang="zh-CN" alt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A005E0B6-FF2A-2B56-28EC-A377AB4B94CF}"/>
                </a:ext>
              </a:extLst>
            </p:cNvPr>
            <p:cNvCxnSpPr>
              <a:cxnSpLocks/>
              <a:stCxn id="34" idx="3"/>
            </p:cNvCxnSpPr>
            <p:nvPr/>
          </p:nvCxnSpPr>
          <p:spPr>
            <a:xfrm flipV="1">
              <a:off x="1770459" y="689435"/>
              <a:ext cx="249631" cy="11844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74C2099E-646E-9560-1616-A84AC4E856D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30708" y="2760126"/>
              <a:ext cx="393277" cy="345384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23A3733A-BBC2-4DFB-8AF8-209328BCA007}"/>
                </a:ext>
              </a:extLst>
            </p:cNvPr>
            <p:cNvSpPr/>
            <p:nvPr/>
          </p:nvSpPr>
          <p:spPr>
            <a:xfrm rot="19751931">
              <a:off x="2036778" y="1082955"/>
              <a:ext cx="576263" cy="33961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F084F007-9186-FB12-1D63-1D134DA51061}"/>
                </a:ext>
              </a:extLst>
            </p:cNvPr>
            <p:cNvSpPr txBox="1"/>
            <p:nvPr/>
          </p:nvSpPr>
          <p:spPr>
            <a:xfrm>
              <a:off x="859148" y="1130064"/>
              <a:ext cx="140769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Phantom deformation</a:t>
              </a:r>
              <a:endParaRPr lang="zh-CN" alt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9B859397-7D99-C2DB-5180-4E020CFB6B27}"/>
                </a:ext>
              </a:extLst>
            </p:cNvPr>
            <p:cNvSpPr/>
            <p:nvPr/>
          </p:nvSpPr>
          <p:spPr>
            <a:xfrm>
              <a:off x="1137458" y="1775107"/>
              <a:ext cx="433129" cy="205978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F94CCFFC-65F5-CF1B-6940-AF46E230EB36}"/>
              </a:ext>
            </a:extLst>
          </p:cNvPr>
          <p:cNvSpPr txBox="1"/>
          <p:nvPr/>
        </p:nvSpPr>
        <p:spPr>
          <a:xfrm>
            <a:off x="-83837" y="-44381"/>
            <a:ext cx="4716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(a)</a:t>
            </a:r>
            <a:endParaRPr lang="zh-CN" alt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7" name="图片 16" descr="图表&#10;&#10;描述已自动生成">
            <a:extLst>
              <a:ext uri="{FF2B5EF4-FFF2-40B4-BE49-F238E27FC236}">
                <a16:creationId xmlns:a16="http://schemas.microsoft.com/office/drawing/2014/main" id="{80125D17-9F9A-BDB2-4FF2-A43693B836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07" b="1331"/>
          <a:stretch/>
        </p:blipFill>
        <p:spPr>
          <a:xfrm>
            <a:off x="2126389" y="13505"/>
            <a:ext cx="5933455" cy="3375089"/>
          </a:xfrm>
          <a:prstGeom prst="rect">
            <a:avLst/>
          </a:prstGeom>
        </p:spPr>
      </p:pic>
      <p:grpSp>
        <p:nvGrpSpPr>
          <p:cNvPr id="18" name="组合 17">
            <a:extLst>
              <a:ext uri="{FF2B5EF4-FFF2-40B4-BE49-F238E27FC236}">
                <a16:creationId xmlns:a16="http://schemas.microsoft.com/office/drawing/2014/main" id="{E8FDE644-F47E-5630-CBDE-9EDFA076DD33}"/>
              </a:ext>
            </a:extLst>
          </p:cNvPr>
          <p:cNvGrpSpPr/>
          <p:nvPr/>
        </p:nvGrpSpPr>
        <p:grpSpPr>
          <a:xfrm>
            <a:off x="7972637" y="-46791"/>
            <a:ext cx="728388" cy="3198842"/>
            <a:chOff x="8157959" y="-43336"/>
            <a:chExt cx="728388" cy="3198842"/>
          </a:xfrm>
        </p:grpSpPr>
        <p:pic>
          <p:nvPicPr>
            <p:cNvPr id="11" name="图片 10" descr="图表&#10;&#10;描述已自动生成">
              <a:extLst>
                <a:ext uri="{FF2B5EF4-FFF2-40B4-BE49-F238E27FC236}">
                  <a16:creationId xmlns:a16="http://schemas.microsoft.com/office/drawing/2014/main" id="{735FACCD-F694-EAE7-386A-98F33CFF35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5129" t="6643" r="1881" b="20608"/>
            <a:stretch/>
          </p:blipFill>
          <p:spPr>
            <a:xfrm>
              <a:off x="8181537" y="36840"/>
              <a:ext cx="454626" cy="2971800"/>
            </a:xfrm>
            <a:prstGeom prst="rect">
              <a:avLst/>
            </a:prstGeom>
          </p:spPr>
        </p:pic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849B9F7E-129E-1988-99FE-74CDAE4B2713}"/>
                </a:ext>
              </a:extLst>
            </p:cNvPr>
            <p:cNvSpPr txBox="1"/>
            <p:nvPr/>
          </p:nvSpPr>
          <p:spPr>
            <a:xfrm rot="16200000">
              <a:off x="6895370" y="1360930"/>
              <a:ext cx="283295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0" i="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Motion-induced </a:t>
              </a:r>
              <a:r>
                <a:rPr lang="en-US" altLang="zh-CN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Color-change signal</a:t>
              </a:r>
              <a:endParaRPr lang="zh-CN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1967E2A4-1108-1022-09D6-C2B3EC513D13}"/>
                </a:ext>
              </a:extLst>
            </p:cNvPr>
            <p:cNvSpPr txBox="1"/>
            <p:nvPr/>
          </p:nvSpPr>
          <p:spPr>
            <a:xfrm rot="16200000">
              <a:off x="8548434" y="2817593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</a:t>
              </a:r>
              <a:endParaRPr lang="zh-CN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9BACFE68-E7F6-2169-1492-68E35CCA3C57}"/>
                </a:ext>
              </a:extLst>
            </p:cNvPr>
            <p:cNvSpPr txBox="1"/>
            <p:nvPr/>
          </p:nvSpPr>
          <p:spPr>
            <a:xfrm rot="16200000">
              <a:off x="8527933" y="1340396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lang="zh-CN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46ED26F8-CE20-AB4C-2DA5-550585148F94}"/>
                </a:ext>
              </a:extLst>
            </p:cNvPr>
            <p:cNvSpPr txBox="1"/>
            <p:nvPr/>
          </p:nvSpPr>
          <p:spPr>
            <a:xfrm rot="16200000">
              <a:off x="8527933" y="-74755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lang="zh-CN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D9C2B7A6-65B9-2CC9-D37A-0863FF1AB060}"/>
              </a:ext>
            </a:extLst>
          </p:cNvPr>
          <p:cNvSpPr txBox="1"/>
          <p:nvPr/>
        </p:nvSpPr>
        <p:spPr>
          <a:xfrm>
            <a:off x="1991555" y="-46791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(b)</a:t>
            </a:r>
            <a:endParaRPr lang="zh-CN" alt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2EF2BF2-79BF-6DC8-FF46-8CA1239C23D2}"/>
              </a:ext>
            </a:extLst>
          </p:cNvPr>
          <p:cNvSpPr/>
          <p:nvPr/>
        </p:nvSpPr>
        <p:spPr>
          <a:xfrm>
            <a:off x="2136141" y="718784"/>
            <a:ext cx="248026" cy="19386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8F8EF65-D598-8175-5E0F-51475BE91E9B}"/>
              </a:ext>
            </a:extLst>
          </p:cNvPr>
          <p:cNvSpPr txBox="1"/>
          <p:nvPr/>
        </p:nvSpPr>
        <p:spPr>
          <a:xfrm rot="16200000">
            <a:off x="837226" y="1507277"/>
            <a:ext cx="2874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Position along phantom (%)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5C41D80-E4F8-76E8-BBB6-09D470621F24}"/>
              </a:ext>
            </a:extLst>
          </p:cNvPr>
          <p:cNvSpPr txBox="1"/>
          <p:nvPr/>
        </p:nvSpPr>
        <p:spPr>
          <a:xfrm>
            <a:off x="3787814" y="1012617"/>
            <a:ext cx="172835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(15 mm vine)</a:t>
            </a:r>
            <a:endParaRPr lang="zh-CN" altLang="en-US" sz="22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3452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>
            <a:extLst>
              <a:ext uri="{FF2B5EF4-FFF2-40B4-BE49-F238E27FC236}">
                <a16:creationId xmlns:a16="http://schemas.microsoft.com/office/drawing/2014/main" id="{F94CCFFC-65F5-CF1B-6940-AF46E230EB36}"/>
              </a:ext>
            </a:extLst>
          </p:cNvPr>
          <p:cNvSpPr txBox="1"/>
          <p:nvPr/>
        </p:nvSpPr>
        <p:spPr>
          <a:xfrm>
            <a:off x="286419" y="51338"/>
            <a:ext cx="8210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（</a:t>
            </a:r>
            <a:r>
              <a:rPr lang="en-US" altLang="zh-CN" sz="2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zh-C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）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AD37DE4-A301-ECCB-39A1-9070182E4303}"/>
              </a:ext>
            </a:extLst>
          </p:cNvPr>
          <p:cNvSpPr txBox="1"/>
          <p:nvPr/>
        </p:nvSpPr>
        <p:spPr>
          <a:xfrm>
            <a:off x="2697718" y="81370"/>
            <a:ext cx="8354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（</a:t>
            </a:r>
            <a:r>
              <a:rPr lang="en-US" altLang="zh-CN" sz="2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zh-C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）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7D4FD8E-FA8A-D797-3E60-6EBA268C120C}"/>
              </a:ext>
            </a:extLst>
          </p:cNvPr>
          <p:cNvSpPr txBox="1"/>
          <p:nvPr/>
        </p:nvSpPr>
        <p:spPr>
          <a:xfrm>
            <a:off x="2643002" y="1823186"/>
            <a:ext cx="8354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（</a:t>
            </a:r>
            <a:r>
              <a:rPr lang="en-US" altLang="zh-CN" sz="2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zh-C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）</a:t>
            </a: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4DCF62BD-7043-F7D0-B224-6F6CE1A18BB9}"/>
              </a:ext>
            </a:extLst>
          </p:cNvPr>
          <p:cNvGrpSpPr/>
          <p:nvPr/>
        </p:nvGrpSpPr>
        <p:grpSpPr>
          <a:xfrm>
            <a:off x="2661222" y="81040"/>
            <a:ext cx="6755427" cy="4272482"/>
            <a:chOff x="2791256" y="88460"/>
            <a:chExt cx="6755427" cy="4272482"/>
          </a:xfrm>
        </p:grpSpPr>
        <p:pic>
          <p:nvPicPr>
            <p:cNvPr id="15" name="图片 14" descr="图表&#10;&#10;描述已自动生成">
              <a:extLst>
                <a:ext uri="{FF2B5EF4-FFF2-40B4-BE49-F238E27FC236}">
                  <a16:creationId xmlns:a16="http://schemas.microsoft.com/office/drawing/2014/main" id="{175D9C01-E792-0A09-D557-917134AA73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635" t="80493" r="14607" b="11877"/>
            <a:stretch/>
          </p:blipFill>
          <p:spPr>
            <a:xfrm>
              <a:off x="2796541" y="3191122"/>
              <a:ext cx="6750142" cy="369332"/>
            </a:xfrm>
            <a:prstGeom prst="rect">
              <a:avLst/>
            </a:prstGeom>
          </p:spPr>
        </p:pic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1245FEC2-D32D-EB7D-EF36-E5AA1107C3F1}"/>
                </a:ext>
              </a:extLst>
            </p:cNvPr>
            <p:cNvSpPr>
              <a:spLocks/>
            </p:cNvSpPr>
            <p:nvPr/>
          </p:nvSpPr>
          <p:spPr>
            <a:xfrm>
              <a:off x="8521445" y="360020"/>
              <a:ext cx="195898" cy="2019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89D4E1C8-B982-A22D-F231-B146190BE65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791256" y="88460"/>
              <a:ext cx="6474526" cy="3171496"/>
              <a:chOff x="2715643" y="67004"/>
              <a:chExt cx="5680303" cy="2782452"/>
            </a:xfrm>
          </p:grpSpPr>
          <p:pic>
            <p:nvPicPr>
              <p:cNvPr id="4" name="图片 3" descr="图表&#10;&#10;描述已自动生成">
                <a:extLst>
                  <a:ext uri="{FF2B5EF4-FFF2-40B4-BE49-F238E27FC236}">
                    <a16:creationId xmlns:a16="http://schemas.microsoft.com/office/drawing/2014/main" id="{5569393F-D055-0C48-DFBE-5A9D0CCF0F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935" t="6384" r="17399" b="60655"/>
              <a:stretch/>
            </p:blipFill>
            <p:spPr>
              <a:xfrm>
                <a:off x="2715643" y="67004"/>
                <a:ext cx="5680303" cy="1399846"/>
              </a:xfrm>
              <a:prstGeom prst="rect">
                <a:avLst/>
              </a:prstGeom>
            </p:spPr>
          </p:pic>
          <p:pic>
            <p:nvPicPr>
              <p:cNvPr id="9" name="图片 8" descr="图表&#10;&#10;描述已自动生成">
                <a:extLst>
                  <a:ext uri="{FF2B5EF4-FFF2-40B4-BE49-F238E27FC236}">
                    <a16:creationId xmlns:a16="http://schemas.microsoft.com/office/drawing/2014/main" id="{4BA27A8A-0E34-3F36-6B0D-254FEBFC40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854" t="47479" r="17481" b="19560"/>
              <a:stretch/>
            </p:blipFill>
            <p:spPr>
              <a:xfrm>
                <a:off x="2715643" y="1449610"/>
                <a:ext cx="5680303" cy="1399846"/>
              </a:xfrm>
              <a:prstGeom prst="rect">
                <a:avLst/>
              </a:prstGeom>
            </p:spPr>
          </p:pic>
        </p:grpSp>
        <p:pic>
          <p:nvPicPr>
            <p:cNvPr id="20" name="图片 19" descr="图表&#10;&#10;描述已自动生成">
              <a:extLst>
                <a:ext uri="{FF2B5EF4-FFF2-40B4-BE49-F238E27FC236}">
                  <a16:creationId xmlns:a16="http://schemas.microsoft.com/office/drawing/2014/main" id="{5DCD2608-3B88-199E-0EA8-D65DD21FAE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06" t="4940" r="90354" b="14682"/>
            <a:stretch/>
          </p:blipFill>
          <p:spPr>
            <a:xfrm>
              <a:off x="9284366" y="237425"/>
              <a:ext cx="214647" cy="2893216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6E6BA919-FB8B-827E-E57F-5AF652DB105B}"/>
                </a:ext>
              </a:extLst>
            </p:cNvPr>
            <p:cNvSpPr txBox="1">
              <a:spLocks/>
            </p:cNvSpPr>
            <p:nvPr/>
          </p:nvSpPr>
          <p:spPr>
            <a:xfrm>
              <a:off x="4563510" y="3405597"/>
              <a:ext cx="3017173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Normalized</a:t>
              </a:r>
              <a:r>
                <a:rPr lang="zh-CN" alt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altLang="zh-CN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Elapsed Time (%)</a:t>
              </a:r>
            </a:p>
          </p:txBody>
        </p: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2583053C-5800-4AD5-F9CA-CD93865BC6D3}"/>
                </a:ext>
              </a:extLst>
            </p:cNvPr>
            <p:cNvGrpSpPr>
              <a:grpSpLocks/>
            </p:cNvGrpSpPr>
            <p:nvPr/>
          </p:nvGrpSpPr>
          <p:grpSpPr>
            <a:xfrm>
              <a:off x="3157761" y="3634095"/>
              <a:ext cx="5436823" cy="369332"/>
              <a:chOff x="3082149" y="3674060"/>
              <a:chExt cx="5436823" cy="369332"/>
            </a:xfrm>
          </p:grpSpPr>
          <p:pic>
            <p:nvPicPr>
              <p:cNvPr id="19" name="图片 18" descr="图表&#10;&#10;描述已自动生成">
                <a:extLst>
                  <a:ext uri="{FF2B5EF4-FFF2-40B4-BE49-F238E27FC236}">
                    <a16:creationId xmlns:a16="http://schemas.microsoft.com/office/drawing/2014/main" id="{A7771803-16AA-0FF7-5B7E-41AEC8D8AA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5475" t="6190" r="12434" b="18897"/>
              <a:stretch/>
            </p:blipFill>
            <p:spPr>
              <a:xfrm rot="5400000">
                <a:off x="5660884" y="1174739"/>
                <a:ext cx="279353" cy="5436823"/>
              </a:xfrm>
              <a:prstGeom prst="rect">
                <a:avLst/>
              </a:prstGeom>
            </p:spPr>
          </p:pic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389C6FE0-76E4-5EAF-7613-AEE369FA338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90668" y="3674060"/>
                <a:ext cx="20197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Color-change signal</a:t>
                </a:r>
                <a:endParaRPr lang="zh-CN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F6888ADB-33FD-5463-17E2-7086AAAE14BA}"/>
                </a:ext>
              </a:extLst>
            </p:cNvPr>
            <p:cNvSpPr txBox="1">
              <a:spLocks/>
            </p:cNvSpPr>
            <p:nvPr/>
          </p:nvSpPr>
          <p:spPr>
            <a:xfrm>
              <a:off x="3072325" y="399161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0</a:t>
              </a:r>
              <a:endParaRPr lang="zh-CN" altLang="en-US" dirty="0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0AD837DD-7980-4F9A-0A88-95EF3C7DB783}"/>
                </a:ext>
              </a:extLst>
            </p:cNvPr>
            <p:cNvSpPr txBox="1">
              <a:spLocks/>
            </p:cNvSpPr>
            <p:nvPr/>
          </p:nvSpPr>
          <p:spPr>
            <a:xfrm>
              <a:off x="5735983" y="392057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1</a:t>
              </a:r>
              <a:endParaRPr lang="zh-CN" altLang="en-US" dirty="0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DE71A529-98EF-8D0A-2603-8B7272622A17}"/>
                </a:ext>
              </a:extLst>
            </p:cNvPr>
            <p:cNvSpPr txBox="1">
              <a:spLocks/>
            </p:cNvSpPr>
            <p:nvPr/>
          </p:nvSpPr>
          <p:spPr>
            <a:xfrm>
              <a:off x="8373525" y="392057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2</a:t>
              </a:r>
              <a:endParaRPr lang="zh-CN" altLang="en-US" dirty="0"/>
            </a:p>
          </p:txBody>
        </p: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785FB871-07C9-AA9C-8C92-1C45961C9B58}"/>
              </a:ext>
            </a:extLst>
          </p:cNvPr>
          <p:cNvGrpSpPr/>
          <p:nvPr/>
        </p:nvGrpSpPr>
        <p:grpSpPr>
          <a:xfrm>
            <a:off x="92933" y="88460"/>
            <a:ext cx="3187332" cy="4033936"/>
            <a:chOff x="580798" y="102658"/>
            <a:chExt cx="2675357" cy="3403728"/>
          </a:xfrm>
        </p:grpSpPr>
        <p:pic>
          <p:nvPicPr>
            <p:cNvPr id="33" name="图片 32">
              <a:extLst>
                <a:ext uri="{FF2B5EF4-FFF2-40B4-BE49-F238E27FC236}">
                  <a16:creationId xmlns:a16="http://schemas.microsoft.com/office/drawing/2014/main" id="{B714BED1-3A45-04BC-173A-EEE190DA3A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0358" r="14418"/>
            <a:stretch/>
          </p:blipFill>
          <p:spPr>
            <a:xfrm>
              <a:off x="580798" y="102658"/>
              <a:ext cx="2155818" cy="3403728"/>
            </a:xfrm>
            <a:prstGeom prst="rect">
              <a:avLst/>
            </a:prstGeom>
          </p:spPr>
        </p:pic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53E8F106-C083-0EDC-5EF9-B65197DDBA03}"/>
                </a:ext>
              </a:extLst>
            </p:cNvPr>
            <p:cNvSpPr txBox="1"/>
            <p:nvPr/>
          </p:nvSpPr>
          <p:spPr>
            <a:xfrm>
              <a:off x="649486" y="607585"/>
              <a:ext cx="215581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00B0F0"/>
                  </a:solidFill>
                </a:rPr>
                <a:t>Rectum </a:t>
              </a:r>
            </a:p>
            <a:p>
              <a:r>
                <a:rPr lang="en-US" altLang="zh-CN" dirty="0">
                  <a:solidFill>
                    <a:srgbClr val="00B0F0"/>
                  </a:solidFill>
                </a:rPr>
                <a:t>(start point)</a:t>
              </a:r>
              <a:endParaRPr lang="zh-CN" altLang="en-US" dirty="0">
                <a:solidFill>
                  <a:srgbClr val="00B0F0"/>
                </a:solidFill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D2E0A3F6-5641-E1DC-AF72-4A123F93C830}"/>
                </a:ext>
              </a:extLst>
            </p:cNvPr>
            <p:cNvSpPr txBox="1"/>
            <p:nvPr/>
          </p:nvSpPr>
          <p:spPr>
            <a:xfrm>
              <a:off x="784026" y="3014130"/>
              <a:ext cx="2472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</a:rPr>
                <a:t>Vine robot tip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A005E0B6-FF2A-2B56-28EC-A377AB4B94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89338" y="728916"/>
              <a:ext cx="333629" cy="92526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74C2099E-646E-9560-1616-A84AC4E856D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30708" y="2760126"/>
              <a:ext cx="393277" cy="345384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23A3733A-BBC2-4DFB-8AF8-209328BCA007}"/>
                </a:ext>
              </a:extLst>
            </p:cNvPr>
            <p:cNvSpPr/>
            <p:nvPr/>
          </p:nvSpPr>
          <p:spPr>
            <a:xfrm rot="19751931">
              <a:off x="2036778" y="1082955"/>
              <a:ext cx="576263" cy="33961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F084F007-9186-FB12-1D63-1D134DA51061}"/>
                </a:ext>
              </a:extLst>
            </p:cNvPr>
            <p:cNvSpPr txBox="1"/>
            <p:nvPr/>
          </p:nvSpPr>
          <p:spPr>
            <a:xfrm>
              <a:off x="815436" y="1437237"/>
              <a:ext cx="1298039" cy="2918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</a:rPr>
                <a:t>Phantom motion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9B859397-7D99-C2DB-5180-4E020CFB6B27}"/>
                </a:ext>
              </a:extLst>
            </p:cNvPr>
            <p:cNvSpPr/>
            <p:nvPr/>
          </p:nvSpPr>
          <p:spPr>
            <a:xfrm>
              <a:off x="1243958" y="1749789"/>
              <a:ext cx="433129" cy="205978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7FEBF960-6D87-9406-1F6E-11A877CEAFEE}"/>
              </a:ext>
            </a:extLst>
          </p:cNvPr>
          <p:cNvSpPr txBox="1"/>
          <p:nvPr/>
        </p:nvSpPr>
        <p:spPr>
          <a:xfrm>
            <a:off x="-133402" y="63625"/>
            <a:ext cx="8210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（</a:t>
            </a:r>
            <a:r>
              <a:rPr lang="en-US" altLang="zh-CN" sz="2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zh-C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）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6E9A9AA-6037-7C1B-623A-D9EEB8AA4B0A}"/>
              </a:ext>
            </a:extLst>
          </p:cNvPr>
          <p:cNvSpPr txBox="1"/>
          <p:nvPr/>
        </p:nvSpPr>
        <p:spPr>
          <a:xfrm>
            <a:off x="2278043" y="-836033"/>
            <a:ext cx="8354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（</a:t>
            </a:r>
            <a:r>
              <a:rPr lang="en-US" altLang="zh-CN" sz="2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zh-C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）</a:t>
            </a:r>
          </a:p>
        </p:txBody>
      </p:sp>
      <p:sp>
        <p:nvSpPr>
          <p:cNvPr id="60" name="星形: 四角 59">
            <a:extLst>
              <a:ext uri="{FF2B5EF4-FFF2-40B4-BE49-F238E27FC236}">
                <a16:creationId xmlns:a16="http://schemas.microsoft.com/office/drawing/2014/main" id="{39C75BDA-F4BE-CE46-6D3F-ACB63017D04E}"/>
              </a:ext>
            </a:extLst>
          </p:cNvPr>
          <p:cNvSpPr/>
          <p:nvPr/>
        </p:nvSpPr>
        <p:spPr>
          <a:xfrm>
            <a:off x="715896" y="3072447"/>
            <a:ext cx="265468" cy="288903"/>
          </a:xfrm>
          <a:prstGeom prst="star4">
            <a:avLst/>
          </a:prstGeom>
          <a:solidFill>
            <a:srgbClr val="FFFF00"/>
          </a:solidFill>
          <a:ln>
            <a:solidFill>
              <a:srgbClr val="FFFF00">
                <a:alpha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8501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表, 直方图&#10;&#10;描述已自动生成">
            <a:extLst>
              <a:ext uri="{FF2B5EF4-FFF2-40B4-BE49-F238E27FC236}">
                <a16:creationId xmlns:a16="http://schemas.microsoft.com/office/drawing/2014/main" id="{7369696D-B001-41CB-01D9-11FEA7BEBE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272"/>
            <a:ext cx="11912600" cy="686127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DD26E80-6E7B-A735-2803-47A9196F1D69}"/>
              </a:ext>
            </a:extLst>
          </p:cNvPr>
          <p:cNvSpPr txBox="1"/>
          <p:nvPr/>
        </p:nvSpPr>
        <p:spPr>
          <a:xfrm>
            <a:off x="8108950" y="-158750"/>
            <a:ext cx="6960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Tip</a:t>
            </a:r>
            <a:endParaRPr lang="zh-CN" alt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04261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</TotalTime>
  <Words>91</Words>
  <Application>Microsoft Office PowerPoint</Application>
  <PresentationFormat>宽屏</PresentationFormat>
  <Paragraphs>40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等线</vt:lpstr>
      <vt:lpstr>等线 Light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Qingzheng Cong</dc:creator>
  <cp:lastModifiedBy>Qingzheng Cong</cp:lastModifiedBy>
  <cp:revision>21</cp:revision>
  <dcterms:created xsi:type="dcterms:W3CDTF">2026-10-27T16:47:07Z</dcterms:created>
  <dcterms:modified xsi:type="dcterms:W3CDTF">2026-10-30T14:31:45Z</dcterms:modified>
</cp:coreProperties>
</file>